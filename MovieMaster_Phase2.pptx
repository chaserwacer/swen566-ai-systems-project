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548640"/>
            <a:ext cx="2560320" cy="2560320"/>
          </a:xfrm>
          <a:prstGeom prst="ellipse">
            <a:avLst/>
          </a:prstGeom>
          <a:solidFill>
            <a:srgbClr val="1E1E5A"/>
          </a:solidFill>
          <a:ln w="254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2103120"/>
            <a:ext cx="1280160" cy="1280160"/>
          </a:xfrm>
          <a:prstGeom prst="ellipse">
            <a:avLst/>
          </a:prstGeom>
          <a:solidFill>
            <a:srgbClr val="1E1E5A"/>
          </a:solidFill>
          <a:ln w="25400">
            <a:solidFill>
              <a:srgbClr val="F5C5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371600"/>
            <a:ext cx="109728" cy="21945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3258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MOVIE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MASTER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320040" y="2606040"/>
            <a:ext cx="2560320" cy="640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7889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— Phase 2 Update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329184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 architecture, training results,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workflow, and lessons learned.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41148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1E5A"/>
          </a:solidFill>
          <a:ln w="12700">
            <a:solidFill>
              <a:srgbClr val="1E1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 — Specialized Agent Architecture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Repository-native, provider-agnostic prompts — works with GitHub Copilot or Claude Code.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651760" cy="3474720"/>
          </a:xfrm>
          <a:prstGeom prst="rect">
            <a:avLst/>
          </a:prstGeom>
          <a:solidFill>
            <a:srgbClr val="1E1E5A"/>
          </a:solidFill>
          <a:ln/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2651760" cy="9144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2728" y="1417320"/>
            <a:ext cx="694944" cy="694944"/>
          </a:xfrm>
          <a:prstGeom prst="ellipse">
            <a:avLst/>
          </a:prstGeom>
          <a:solidFill>
            <a:srgbClr val="FF980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456" y="1527048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2128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Prompting Agent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" y="269748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issues and tasks into high-quality prompts with explicit assumptions and acceptance criteria.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0" y="1234440"/>
            <a:ext cx="2651760" cy="3474720"/>
          </a:xfrm>
          <a:prstGeom prst="rect">
            <a:avLst/>
          </a:prstGeom>
          <a:solidFill>
            <a:srgbClr val="1E1E5A"/>
          </a:solidFill>
          <a:ln/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234440"/>
            <a:ext cx="2651760" cy="914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78808" y="1417320"/>
            <a:ext cx="694944" cy="694944"/>
          </a:xfrm>
          <a:prstGeom prst="ellipse">
            <a:avLst/>
          </a:prstGeom>
          <a:solidFill>
            <a:srgbClr val="4A90D9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1527048"/>
            <a:ext cx="475488" cy="4754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91840" y="22128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Agent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337560" y="269748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scoped, production-grade changes with maintainability and safety constraints.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126480" y="1234440"/>
            <a:ext cx="2651760" cy="3474720"/>
          </a:xfrm>
          <a:prstGeom prst="rect">
            <a:avLst/>
          </a:prstGeom>
          <a:solidFill>
            <a:srgbClr val="1E1E5A"/>
          </a:solidFill>
          <a:ln/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1234440"/>
            <a:ext cx="2651760" cy="914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104888" y="1417320"/>
            <a:ext cx="694944" cy="694944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616" y="1527048"/>
            <a:ext cx="475488" cy="4754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17920" y="22128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Reviewer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263640" y="269748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quality gates — correctness, security/privacy, reliability, and test adequacy.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1E1E5A"/>
          </a:solidFill>
          <a:ln w="12700">
            <a:solidFill>
              <a:srgbClr val="1E1E5A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20040" y="4800600"/>
            <a:ext cx="8503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 ·  Consistent  ·  Governed — prompts are tool-agnostic and follow structured inputs/outputs/DoD checks.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1E5A"/>
          </a:solidFill>
          <a:ln w="12700">
            <a:solidFill>
              <a:srgbClr val="1E1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&amp; Evaluation Process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1965960" cy="38404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1752" y="77724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31720" y="777240"/>
            <a:ext cx="2286000" cy="38404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04872" y="77724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777240"/>
            <a:ext cx="2148840" cy="38404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77724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Behavior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40880" y="777240"/>
            <a:ext cx="1828800" cy="38404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14032" y="7772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1261872"/>
            <a:ext cx="8686800" cy="1097280"/>
          </a:xfrm>
          <a:prstGeom prst="rect">
            <a:avLst/>
          </a:prstGeom>
          <a:solidFill>
            <a:srgbClr val="1E1E5A"/>
          </a:solidFill>
          <a:ln w="12700">
            <a:solidFill>
              <a:srgbClr val="1E1E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261872"/>
            <a:ext cx="64008" cy="109728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307592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Prompting Agent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77440" y="1307592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task statements &amp; issue descriptions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1307592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prompts with assumptions &amp; acceptance criteria</a:t>
            </a:r>
            <a:endParaRPr lang="en-US" sz="11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581912"/>
            <a:ext cx="256032" cy="25603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360920" y="1307592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task clarity, reduced back-and-forth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28600" y="2468880"/>
            <a:ext cx="8686800" cy="1097280"/>
          </a:xfrm>
          <a:prstGeom prst="rect">
            <a:avLst/>
          </a:prstGeom>
          <a:solidFill>
            <a:srgbClr val="1E1E5A"/>
          </a:solidFill>
          <a:ln w="12700">
            <a:solidFill>
              <a:srgbClr val="1E1E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28600" y="2468880"/>
            <a:ext cx="64008" cy="10972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7472" y="251460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Agent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377440" y="251460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Implementation-ready prompts from Prompting Agent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709160" y="25146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Minimal, focused changes aligned with architecture</a:t>
            </a:r>
            <a:endParaRPr lang="en-US" sz="11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168" y="2788920"/>
            <a:ext cx="256032" cy="25603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360920" y="251460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naming, doc style &amp; error-path consistency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228600" y="3675888"/>
            <a:ext cx="8686800" cy="1097280"/>
          </a:xfrm>
          <a:prstGeom prst="rect">
            <a:avLst/>
          </a:prstGeom>
          <a:solidFill>
            <a:srgbClr val="1E1E5A"/>
          </a:solidFill>
          <a:ln w="12700">
            <a:solidFill>
              <a:srgbClr val="1E1E5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228600" y="3675888"/>
            <a:ext cx="64008" cy="10972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47472" y="3721608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Reviewer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2377440" y="3721608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diffs and task context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4709160" y="3721608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Severity-tagged findings with concrete fixes</a:t>
            </a:r>
            <a:endParaRPr lang="en-US" sz="110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68" y="3995928"/>
            <a:ext cx="256032" cy="25603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360920" y="3721608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quality checks — edge cases &amp; security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1E5A"/>
          </a:solidFill>
          <a:ln w="12700">
            <a:solidFill>
              <a:srgbClr val="1E1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Interaction &amp; Workflow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76072" y="914400"/>
            <a:ext cx="694944" cy="694944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5" name="Text 3"/>
          <p:cNvSpPr/>
          <p:nvPr/>
        </p:nvSpPr>
        <p:spPr>
          <a:xfrm>
            <a:off x="576072" y="91440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" y="166420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Issue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4208" y="1078992"/>
            <a:ext cx="274320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313432" y="914400"/>
            <a:ext cx="694944" cy="694944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9" name="Text 6"/>
          <p:cNvSpPr/>
          <p:nvPr/>
        </p:nvSpPr>
        <p:spPr>
          <a:xfrm>
            <a:off x="2313432" y="91440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874520" y="166420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078992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050792" y="914400"/>
            <a:ext cx="694944" cy="694944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3" name="Text 9"/>
          <p:cNvSpPr/>
          <p:nvPr/>
        </p:nvSpPr>
        <p:spPr>
          <a:xfrm>
            <a:off x="4050792" y="91440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3611880" y="166420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1078992"/>
            <a:ext cx="274320" cy="27432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788152" y="914400"/>
            <a:ext cx="694944" cy="694944"/>
          </a:xfrm>
          <a:prstGeom prst="ellipse">
            <a:avLst/>
          </a:prstGeom>
          <a:solidFill>
            <a:srgbClr val="9C27B0"/>
          </a:solidFill>
          <a:ln/>
        </p:spPr>
      </p:sp>
      <p:sp>
        <p:nvSpPr>
          <p:cNvPr id="17" name="Text 12"/>
          <p:cNvSpPr/>
          <p:nvPr/>
        </p:nvSpPr>
        <p:spPr>
          <a:xfrm>
            <a:off x="5788152" y="91440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5349240" y="166420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</a:t>
            </a:r>
            <a:endParaRPr lang="en-US" sz="12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88" y="1078992"/>
            <a:ext cx="274320" cy="27432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7525512" y="914400"/>
            <a:ext cx="694944" cy="694944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1" name="Text 15"/>
          <p:cNvSpPr/>
          <p:nvPr/>
        </p:nvSpPr>
        <p:spPr>
          <a:xfrm>
            <a:off x="7525512" y="91440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1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7086600" y="166420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228600" y="2377440"/>
            <a:ext cx="1389888" cy="1371600"/>
          </a:xfrm>
          <a:prstGeom prst="rect">
            <a:avLst/>
          </a:prstGeom>
          <a:solidFill>
            <a:srgbClr val="1E1E5A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301752" y="2423160"/>
            <a:ext cx="12435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creates or refines issue/task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1965960" y="2377440"/>
            <a:ext cx="1389888" cy="1371600"/>
          </a:xfrm>
          <a:prstGeom prst="rect">
            <a:avLst/>
          </a:prstGeom>
          <a:solidFill>
            <a:srgbClr val="1E1E5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2039112" y="2423160"/>
            <a:ext cx="12435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implementation prompt + acceptance criteria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3703320" y="2377440"/>
            <a:ext cx="1389888" cy="1371600"/>
          </a:xfrm>
          <a:prstGeom prst="rect">
            <a:avLst/>
          </a:prstGeom>
          <a:solidFill>
            <a:srgbClr val="1E1E5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3776472" y="2423160"/>
            <a:ext cx="12435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or implements the change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5440680" y="2377440"/>
            <a:ext cx="1389888" cy="1371600"/>
          </a:xfrm>
          <a:prstGeom prst="rect">
            <a:avLst/>
          </a:prstGeom>
          <a:solidFill>
            <a:srgbClr val="1E1E5A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513832" y="2423160"/>
            <a:ext cx="12435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output against quality checklist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7178040" y="2377440"/>
            <a:ext cx="1389888" cy="1371600"/>
          </a:xfrm>
          <a:prstGeom prst="rect">
            <a:avLst/>
          </a:prstGeom>
          <a:solidFill>
            <a:srgbClr val="1E1E5A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251192" y="2423160"/>
            <a:ext cx="12435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Finalizes decisions and merges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0" y="3931920"/>
            <a:ext cx="9144000" cy="1207008"/>
          </a:xfrm>
          <a:prstGeom prst="rect">
            <a:avLst/>
          </a:prstGeom>
          <a:solidFill>
            <a:srgbClr val="1E1E5A"/>
          </a:solidFill>
          <a:ln w="12700">
            <a:solidFill>
              <a:srgbClr val="1E1E5A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320040" y="39776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Impact</a:t>
            </a:r>
            <a:endParaRPr lang="en-US" sz="120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4370832"/>
            <a:ext cx="201168" cy="20116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76072" y="43434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initial implementation drafts</a:t>
            </a:r>
            <a:endParaRPr lang="en-US" sz="11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4608576"/>
            <a:ext cx="201168" cy="20116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76072" y="458114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requirement traceability: issue → code → review</a:t>
            </a:r>
            <a:endParaRPr lang="en-US" sz="1100" dirty="0"/>
          </a:p>
        </p:txBody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" y="4846320"/>
            <a:ext cx="201168" cy="201168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76072" y="48188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accountability — criteria explicit before coding starts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1E5A"/>
          </a:solidFill>
          <a:ln w="12700">
            <a:solidFill>
              <a:srgbClr val="1E1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Learned &amp; Challenges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114800" cy="38404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7772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Lessons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298448"/>
            <a:ext cx="256032" cy="2560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1234440"/>
            <a:ext cx="4114800" cy="594360"/>
          </a:xfrm>
          <a:prstGeom prst="rect">
            <a:avLst/>
          </a:prstGeom>
          <a:solidFill>
            <a:srgbClr val="1E1E5A"/>
          </a:solidFill>
          <a:ln w="12700">
            <a:solidFill>
              <a:srgbClr val="1E1E5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89304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1252728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agents outperform one general-purpose prompt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956816"/>
            <a:ext cx="256032" cy="256032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28600" y="1892808"/>
            <a:ext cx="4114800" cy="594360"/>
          </a:xfrm>
          <a:prstGeom prst="rect">
            <a:avLst/>
          </a:prstGeom>
          <a:solidFill>
            <a:srgbClr val="1E1E5A"/>
          </a:solidFill>
          <a:ln w="12700">
            <a:solidFill>
              <a:srgbClr val="1E1E5A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947672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0080" y="1911096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acceptance criteria up front boosts output quality</a:t>
            </a:r>
            <a:endParaRPr lang="en-US" sz="11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2615184"/>
            <a:ext cx="256032" cy="256032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228600" y="2551176"/>
            <a:ext cx="4114800" cy="594360"/>
          </a:xfrm>
          <a:prstGeom prst="rect">
            <a:avLst/>
          </a:prstGeom>
          <a:solidFill>
            <a:srgbClr val="1E1E5A"/>
          </a:solidFill>
          <a:ln w="12700">
            <a:solidFill>
              <a:srgbClr val="1E1E5A"/>
            </a:solidFill>
            <a:prstDash val="solid"/>
          </a:ln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2606040"/>
            <a:ext cx="237744" cy="237744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40080" y="2569464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Tool-agnostic prompts reduce vendor lock-in</a:t>
            </a:r>
            <a:endParaRPr lang="en-US" sz="11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608" y="3273552"/>
            <a:ext cx="256032" cy="256032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228600" y="3209544"/>
            <a:ext cx="4114800" cy="594360"/>
          </a:xfrm>
          <a:prstGeom prst="rect">
            <a:avLst/>
          </a:prstGeom>
          <a:solidFill>
            <a:srgbClr val="1E1E5A"/>
          </a:solidFill>
          <a:ln w="12700">
            <a:solidFill>
              <a:srgbClr val="1E1E5A"/>
            </a:solidFill>
            <a:prstDash val="solid"/>
          </a:ln>
        </p:spPr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3264408"/>
            <a:ext cx="237744" cy="237744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640080" y="3227832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remains essential for architecture decisions</a:t>
            </a:r>
            <a:endParaRPr lang="en-US" sz="1150" dirty="0"/>
          </a:p>
        </p:txBody>
      </p:sp>
      <p:sp>
        <p:nvSpPr>
          <p:cNvPr id="22" name="Shape 12"/>
          <p:cNvSpPr/>
          <p:nvPr/>
        </p:nvSpPr>
        <p:spPr>
          <a:xfrm>
            <a:off x="4800600" y="777240"/>
            <a:ext cx="4114800" cy="384048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23" name="Text 13"/>
          <p:cNvSpPr/>
          <p:nvPr/>
        </p:nvSpPr>
        <p:spPr>
          <a:xfrm>
            <a:off x="4919472" y="7772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Mitigations</a:t>
            </a:r>
            <a:endParaRPr lang="en-US" sz="1200" dirty="0"/>
          </a:p>
        </p:txBody>
      </p:sp>
      <p:sp>
        <p:nvSpPr>
          <p:cNvPr id="24" name="Shape 14"/>
          <p:cNvSpPr/>
          <p:nvPr/>
        </p:nvSpPr>
        <p:spPr>
          <a:xfrm>
            <a:off x="4800600" y="1234440"/>
            <a:ext cx="4114800" cy="841248"/>
          </a:xfrm>
          <a:prstGeom prst="rect">
            <a:avLst/>
          </a:prstGeom>
          <a:solidFill>
            <a:srgbClr val="1E1E5A"/>
          </a:solidFill>
          <a:ln w="12700">
            <a:solidFill>
              <a:srgbClr val="1E1E5A"/>
            </a:solidFill>
            <a:prstDash val="solid"/>
          </a:ln>
        </p:spPr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1307592"/>
            <a:ext cx="219456" cy="219456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184648" y="1289304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Ambiguous issue descriptions</a:t>
            </a:r>
            <a:endParaRPr lang="en-US" sz="110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2040" y="1655064"/>
            <a:ext cx="219456" cy="219456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184648" y="163677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Agent captures assumptions &amp; open Qs</a:t>
            </a:r>
            <a:endParaRPr lang="en-US" sz="1050" dirty="0"/>
          </a:p>
        </p:txBody>
      </p:sp>
      <p:sp>
        <p:nvSpPr>
          <p:cNvPr id="29" name="Shape 17"/>
          <p:cNvSpPr/>
          <p:nvPr/>
        </p:nvSpPr>
        <p:spPr>
          <a:xfrm>
            <a:off x="4800600" y="2148840"/>
            <a:ext cx="4114800" cy="841248"/>
          </a:xfrm>
          <a:prstGeom prst="rect">
            <a:avLst/>
          </a:prstGeom>
          <a:solidFill>
            <a:srgbClr val="1E1E5A"/>
          </a:solidFill>
          <a:ln w="12700">
            <a:solidFill>
              <a:srgbClr val="1E1E5A"/>
            </a:solidFill>
            <a:prstDash val="solid"/>
          </a:ln>
        </p:spPr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2040" y="2221992"/>
            <a:ext cx="219456" cy="219456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5184648" y="2203704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code quality</a:t>
            </a:r>
            <a:endParaRPr lang="en-US" sz="1100" dirty="0"/>
          </a:p>
        </p:txBody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92040" y="2569464"/>
            <a:ext cx="219456" cy="219456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5184648" y="255117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standards embedded in agent + Reviewer gate</a:t>
            </a:r>
            <a:endParaRPr lang="en-US" sz="1050" dirty="0"/>
          </a:p>
        </p:txBody>
      </p:sp>
      <p:sp>
        <p:nvSpPr>
          <p:cNvPr id="34" name="Shape 20"/>
          <p:cNvSpPr/>
          <p:nvPr/>
        </p:nvSpPr>
        <p:spPr>
          <a:xfrm>
            <a:off x="4800600" y="3063240"/>
            <a:ext cx="4114800" cy="841248"/>
          </a:xfrm>
          <a:prstGeom prst="rect">
            <a:avLst/>
          </a:prstGeom>
          <a:solidFill>
            <a:srgbClr val="1E1E5A"/>
          </a:solidFill>
          <a:ln w="12700">
            <a:solidFill>
              <a:srgbClr val="1E1E5A"/>
            </a:solidFill>
            <a:prstDash val="solid"/>
          </a:ln>
        </p:spPr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92040" y="3136392"/>
            <a:ext cx="219456" cy="219456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5184648" y="3118104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of over-trusting AI output</a:t>
            </a:r>
            <a:endParaRPr lang="en-US" sz="1100" dirty="0"/>
          </a:p>
        </p:txBody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92040" y="3483864"/>
            <a:ext cx="219456" cy="219456"/>
          </a:xfrm>
          <a:prstGeom prst="rect">
            <a:avLst/>
          </a:prstGeom>
        </p:spPr>
      </p:pic>
      <p:sp>
        <p:nvSpPr>
          <p:cNvPr id="38" name="Text 22"/>
          <p:cNvSpPr/>
          <p:nvPr/>
        </p:nvSpPr>
        <p:spPr>
          <a:xfrm>
            <a:off x="5184648" y="346557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human review with severity-based findings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1E5A"/>
          </a:solidFill>
          <a:ln w="12700">
            <a:solidFill>
              <a:srgbClr val="1E1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4206240" cy="1828800"/>
          </a:xfrm>
          <a:prstGeom prst="rect">
            <a:avLst/>
          </a:prstGeom>
          <a:solidFill>
            <a:srgbClr val="1E1E5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68680"/>
            <a:ext cx="4206240" cy="914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90D9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51560" y="10515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/ Validation Agent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agent for standardized test matrix generation across project features.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00600" y="868680"/>
            <a:ext cx="4206240" cy="1828800"/>
          </a:xfrm>
          <a:prstGeom prst="rect">
            <a:avLst/>
          </a:prstGeom>
          <a:solidFill>
            <a:srgbClr val="1E1E5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868680"/>
            <a:ext cx="4206240" cy="914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0584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CAF50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623560" y="10515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Template Integration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64592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reviewer checklist directly into pull request templates and checklists.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28600" y="2880360"/>
            <a:ext cx="4206240" cy="1828800"/>
          </a:xfrm>
          <a:prstGeom prst="rect">
            <a:avLst/>
          </a:prstGeom>
          <a:solidFill>
            <a:srgbClr val="1E1E5A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2880360"/>
            <a:ext cx="4206240" cy="9144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01752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9800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051560" y="30632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Impact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365760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cycle-time and defect-rate improvements over upcoming sprints.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2880360"/>
            <a:ext cx="4206240" cy="1828800"/>
          </a:xfrm>
          <a:prstGeom prst="rect">
            <a:avLst/>
          </a:prstGeom>
          <a:solidFill>
            <a:srgbClr val="1E1E5A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2880360"/>
            <a:ext cx="4206240" cy="91440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01752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27B0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623560" y="30632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 Agent Prompts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65760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improving prompts based on observed failure patterns.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3A"/>
          </a:solidFill>
          <a:ln w="12700">
            <a:solidFill>
              <a:srgbClr val="1212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2743200"/>
            <a:ext cx="3291840" cy="7315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Master — AI Agent Phase 2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 Master — Phase 2 AI Agent Update</dc:title>
  <dc:subject>PptxGenJS Presentation</dc:subject>
  <dc:creator>PptxGenJS</dc:creator>
  <cp:lastModifiedBy>PptxGenJS</cp:lastModifiedBy>
  <cp:revision>1</cp:revision>
  <dcterms:created xsi:type="dcterms:W3CDTF">2026-04-06T14:40:41Z</dcterms:created>
  <dcterms:modified xsi:type="dcterms:W3CDTF">2026-04-06T14:40:41Z</dcterms:modified>
</cp:coreProperties>
</file>