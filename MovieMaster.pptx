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0" y="457200"/>
            <a:ext cx="1645920" cy="1645920"/>
          </a:xfrm>
          <a:prstGeom prst="ellipse">
            <a:avLst/>
          </a:prstGeom>
          <a:solidFill>
            <a:srgbClr val="1E1E38"/>
          </a:solidFill>
          <a:ln w="25400">
            <a:solidFill>
              <a:srgbClr val="F5C5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80960" y="2560320"/>
            <a:ext cx="1097280" cy="1097280"/>
          </a:xfrm>
          <a:prstGeom prst="ellipse">
            <a:avLst/>
          </a:prstGeom>
          <a:solidFill>
            <a:srgbClr val="1E1E38"/>
          </a:solidFill>
          <a:ln w="25400">
            <a:solidFill>
              <a:srgbClr val="F5C5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8016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spc="4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MOVIE MASTER</a:t>
            </a:r>
            <a:endParaRPr lang="en-US" sz="5200" dirty="0"/>
          </a:p>
        </p:txBody>
      </p:sp>
      <p:sp>
        <p:nvSpPr>
          <p:cNvPr id="8" name="Shape 6"/>
          <p:cNvSpPr/>
          <p:nvPr/>
        </p:nvSpPr>
        <p:spPr>
          <a:xfrm>
            <a:off x="365760" y="2423160"/>
            <a:ext cx="5029200" cy="54864"/>
          </a:xfrm>
          <a:prstGeom prst="rect">
            <a:avLst/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6060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F5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Film Intelligence Platform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65760" y="329184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Explore, understand, and interact with movies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2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the power of artificial intelligence.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51528"/>
          </a:solidFill>
          <a:ln w="12700">
            <a:solidFill>
              <a:srgbClr val="1515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77824"/>
            <a:ext cx="9144000" cy="54864"/>
          </a:xfrm>
          <a:prstGeom prst="rect">
            <a:avLst/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Movie Master?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1097280"/>
          </a:xfrm>
          <a:prstGeom prst="rect">
            <a:avLst/>
          </a:prstGeom>
          <a:solidFill>
            <a:srgbClr val="1E1E38"/>
          </a:solidFill>
          <a:ln w="19050">
            <a:solidFill>
              <a:srgbClr val="F5C5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97280"/>
            <a:ext cx="109728" cy="1097280"/>
          </a:xfrm>
          <a:prstGeom prst="rect">
            <a:avLst/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170432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E2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Master lets users explore and interact with films through natural language — powered by AI that understands movies as deeply as a film critic.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2514600"/>
            <a:ext cx="2651760" cy="2194560"/>
          </a:xfrm>
          <a:prstGeom prst="rect">
            <a:avLst/>
          </a:prstGeom>
          <a:solidFill>
            <a:srgbClr val="1E1E38"/>
          </a:solidFill>
          <a:ln w="12700">
            <a:solidFill>
              <a:srgbClr val="2A2A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514600"/>
            <a:ext cx="2651760" cy="9144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697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Structured Data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3154680"/>
            <a:ext cx="2377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metadata, ratings, and user preferences stored and queried efficiently.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0" y="2514600"/>
            <a:ext cx="2651760" cy="2194560"/>
          </a:xfrm>
          <a:prstGeom prst="rect">
            <a:avLst/>
          </a:prstGeom>
          <a:solidFill>
            <a:srgbClr val="1E1E38"/>
          </a:solidFill>
          <a:ln w="12700">
            <a:solidFill>
              <a:srgbClr val="2A2A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2514600"/>
            <a:ext cx="2651760" cy="91440"/>
          </a:xfrm>
          <a:prstGeom prst="rect">
            <a:avLst/>
          </a:prstGeom>
          <a:solidFill>
            <a:srgbClr val="E84545"/>
          </a:solidFill>
          <a:ln w="12700">
            <a:solidFill>
              <a:srgbClr val="E845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2697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Unstructured Data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37560" y="3154680"/>
            <a:ext cx="2377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movie transcripts processed and summarized by AI models.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35040" y="2514600"/>
            <a:ext cx="2651760" cy="2194560"/>
          </a:xfrm>
          <a:prstGeom prst="rect">
            <a:avLst/>
          </a:prstGeom>
          <a:solidFill>
            <a:srgbClr val="1E1E38"/>
          </a:solidFill>
          <a:ln w="12700">
            <a:solidFill>
              <a:srgbClr val="2A2A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2514600"/>
            <a:ext cx="2651760" cy="9144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2200" y="2697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Interactive AI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72200" y="3154680"/>
            <a:ext cx="2377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chat, translation, and smart recommendations in one platform.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51528"/>
          </a:solidFill>
          <a:ln w="12700">
            <a:solidFill>
              <a:srgbClr val="1515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77824"/>
            <a:ext cx="9144000" cy="54864"/>
          </a:xfrm>
          <a:prstGeom prst="rect">
            <a:avLst/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Features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097280" y="1143000"/>
            <a:ext cx="3291840" cy="1554480"/>
          </a:xfrm>
          <a:prstGeom prst="rect">
            <a:avLst/>
          </a:prstGeom>
          <a:solidFill>
            <a:srgbClr val="1E1E38"/>
          </a:solidFill>
          <a:ln w="12700">
            <a:solidFill>
              <a:srgbClr val="2A2A5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34440" y="1325880"/>
            <a:ext cx="502920" cy="502920"/>
          </a:xfrm>
          <a:prstGeom prst="ellipse">
            <a:avLst/>
          </a:prstGeom>
          <a:solidFill>
            <a:srgbClr val="2A2A50"/>
          </a:solidFill>
          <a:ln w="19050">
            <a:solidFill>
              <a:srgbClr val="F5C542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8448" y="1389888"/>
            <a:ext cx="374904" cy="37490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47088" y="13258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Movie Search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234440" y="18288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name; retrieve metadata, transcripts, and AI-processed outputs instantly.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029200" y="1143000"/>
            <a:ext cx="3291840" cy="1554480"/>
          </a:xfrm>
          <a:prstGeom prst="rect">
            <a:avLst/>
          </a:prstGeom>
          <a:solidFill>
            <a:srgbClr val="1E1E38"/>
          </a:solidFill>
          <a:ln w="12700">
            <a:solidFill>
              <a:srgbClr val="2A2A5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166360" y="1325880"/>
            <a:ext cx="502920" cy="502920"/>
          </a:xfrm>
          <a:prstGeom prst="ellipse">
            <a:avLst/>
          </a:prstGeom>
          <a:solidFill>
            <a:srgbClr val="2A2A50"/>
          </a:solidFill>
          <a:ln w="19050">
            <a:solidFill>
              <a:srgbClr val="F5C542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368" y="1389888"/>
            <a:ext cx="374904" cy="37490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779008" y="13258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Summarization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166360" y="18288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generates short summaries, detailed breakdowns, and character profiles from movie transcripts.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20040" y="2834640"/>
            <a:ext cx="2743200" cy="1554480"/>
          </a:xfrm>
          <a:prstGeom prst="rect">
            <a:avLst/>
          </a:prstGeom>
          <a:solidFill>
            <a:srgbClr val="1E1E38"/>
          </a:solidFill>
          <a:ln w="12700">
            <a:solidFill>
              <a:srgbClr val="2A2A5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57200" y="3017520"/>
            <a:ext cx="502920" cy="502920"/>
          </a:xfrm>
          <a:prstGeom prst="ellipse">
            <a:avLst/>
          </a:prstGeom>
          <a:solidFill>
            <a:srgbClr val="2A2A50"/>
          </a:solidFill>
          <a:ln w="19050">
            <a:solidFill>
              <a:srgbClr val="F5C542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3081528"/>
            <a:ext cx="374904" cy="37490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69848" y="3017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Chat with a Movie Expert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457200" y="352044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questions about plot, characters, and themes in a conversational AI chat interface.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3246120" y="2834640"/>
            <a:ext cx="2743200" cy="1554480"/>
          </a:xfrm>
          <a:prstGeom prst="rect">
            <a:avLst/>
          </a:prstGeom>
          <a:solidFill>
            <a:srgbClr val="1E1E38"/>
          </a:solidFill>
          <a:ln w="12700">
            <a:solidFill>
              <a:srgbClr val="2A2A5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3383280" y="3017520"/>
            <a:ext cx="502920" cy="502920"/>
          </a:xfrm>
          <a:prstGeom prst="ellipse">
            <a:avLst/>
          </a:prstGeom>
          <a:solidFill>
            <a:srgbClr val="2A2A50"/>
          </a:solidFill>
          <a:ln w="19050">
            <a:solidFill>
              <a:srgbClr val="F5C542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7288" y="3081528"/>
            <a:ext cx="374904" cy="37490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3995928" y="3017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Translation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3383280" y="352044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summaries and AI responses into other languages using Azure AI Translator.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6172200" y="2834640"/>
            <a:ext cx="2743200" cy="1554480"/>
          </a:xfrm>
          <a:prstGeom prst="rect">
            <a:avLst/>
          </a:prstGeom>
          <a:solidFill>
            <a:srgbClr val="1E1E38"/>
          </a:solidFill>
          <a:ln w="12700">
            <a:solidFill>
              <a:srgbClr val="2A2A5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6309360" y="3017520"/>
            <a:ext cx="502920" cy="502920"/>
          </a:xfrm>
          <a:prstGeom prst="ellipse">
            <a:avLst/>
          </a:prstGeom>
          <a:solidFill>
            <a:srgbClr val="2A2A50"/>
          </a:solidFill>
          <a:ln w="19050">
            <a:solidFill>
              <a:srgbClr val="F5C542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3368" y="3081528"/>
            <a:ext cx="374904" cy="37490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922008" y="3017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Ratings &amp; Recommendations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6309360" y="352044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movies (Letterboxd-style) and receive AI-powered personalized recommendations.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51528"/>
          </a:solidFill>
          <a:ln w="12700">
            <a:solidFill>
              <a:srgbClr val="1515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77824"/>
            <a:ext cx="9144000" cy="54864"/>
          </a:xfrm>
          <a:prstGeom prst="rect">
            <a:avLst/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 — AI Pipeline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" y="1417320"/>
            <a:ext cx="1554480" cy="2103120"/>
          </a:xfrm>
          <a:prstGeom prst="rect">
            <a:avLst/>
          </a:prstGeom>
          <a:solidFill>
            <a:srgbClr val="1E1E38"/>
          </a:solidFill>
          <a:ln w="12700">
            <a:solidFill>
              <a:srgbClr val="2A2A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417320"/>
            <a:ext cx="1554480" cy="82296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600200"/>
            <a:ext cx="685800" cy="685800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600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20040" y="24231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Searches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" y="292608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 movie title in the search UI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792224" y="2194560"/>
            <a:ext cx="91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1874520" y="1417320"/>
            <a:ext cx="1554480" cy="2103120"/>
          </a:xfrm>
          <a:prstGeom prst="rect">
            <a:avLst/>
          </a:prstGeom>
          <a:solidFill>
            <a:srgbClr val="1E1E38"/>
          </a:solidFill>
          <a:ln w="12700">
            <a:solidFill>
              <a:srgbClr val="2A2A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874520" y="1417320"/>
            <a:ext cx="1554480" cy="82296"/>
          </a:xfrm>
          <a:prstGeom prst="rect">
            <a:avLst/>
          </a:prstGeom>
          <a:solidFill>
            <a:srgbClr val="7B68EE"/>
          </a:solidFill>
          <a:ln w="12700">
            <a:solidFill>
              <a:srgbClr val="7B68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04288" y="1600200"/>
            <a:ext cx="685800" cy="685800"/>
          </a:xfrm>
          <a:prstGeom prst="ellipse">
            <a:avLst/>
          </a:prstGeom>
          <a:solidFill>
            <a:srgbClr val="7B68EE"/>
          </a:solidFill>
          <a:ln w="12700">
            <a:solidFill>
              <a:srgbClr val="7B68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04288" y="1600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965960" y="24231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Fetch Transcript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965960" y="292608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retrieves stored transcript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38144" y="2194560"/>
            <a:ext cx="91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3520440" y="1417320"/>
            <a:ext cx="1554480" cy="2103120"/>
          </a:xfrm>
          <a:prstGeom prst="rect">
            <a:avLst/>
          </a:prstGeom>
          <a:solidFill>
            <a:srgbClr val="1E1E38"/>
          </a:solidFill>
          <a:ln w="12700">
            <a:solidFill>
              <a:srgbClr val="2A2A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520440" y="1417320"/>
            <a:ext cx="1554480" cy="82296"/>
          </a:xfrm>
          <a:prstGeom prst="rect">
            <a:avLst/>
          </a:prstGeom>
          <a:solidFill>
            <a:srgbClr val="E84545"/>
          </a:solidFill>
          <a:ln w="12700">
            <a:solidFill>
              <a:srgbClr val="E8454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950208" y="1600200"/>
            <a:ext cx="685800" cy="685800"/>
          </a:xfrm>
          <a:prstGeom prst="ellipse">
            <a:avLst/>
          </a:prstGeom>
          <a:solidFill>
            <a:srgbClr val="E84545"/>
          </a:solidFill>
          <a:ln w="12700">
            <a:solidFill>
              <a:srgbClr val="E8454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50208" y="1600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11880" y="24231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Summarizes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11880" y="292608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generates summary &amp; key facts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84064" y="2194560"/>
            <a:ext cx="91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5166360" y="1417320"/>
            <a:ext cx="1554480" cy="2103120"/>
          </a:xfrm>
          <a:prstGeom prst="rect">
            <a:avLst/>
          </a:prstGeom>
          <a:solidFill>
            <a:srgbClr val="1E1E38"/>
          </a:solidFill>
          <a:ln w="12700">
            <a:solidFill>
              <a:srgbClr val="2A2A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166360" y="1417320"/>
            <a:ext cx="1554480" cy="82296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596128" y="1600200"/>
            <a:ext cx="685800" cy="6858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96128" y="1600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257800" y="24231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Cache &amp; Store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257800" y="292608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saved for future requests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729984" y="2194560"/>
            <a:ext cx="91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33" name="Shape 31"/>
          <p:cNvSpPr/>
          <p:nvPr/>
        </p:nvSpPr>
        <p:spPr>
          <a:xfrm>
            <a:off x="6812280" y="1417320"/>
            <a:ext cx="1554480" cy="2103120"/>
          </a:xfrm>
          <a:prstGeom prst="rect">
            <a:avLst/>
          </a:prstGeom>
          <a:solidFill>
            <a:srgbClr val="1E1E38"/>
          </a:solidFill>
          <a:ln w="12700">
            <a:solidFill>
              <a:srgbClr val="2A2A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812280" y="1417320"/>
            <a:ext cx="1554480" cy="8229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42048" y="1600200"/>
            <a:ext cx="685800" cy="68580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242048" y="1600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6903720" y="24231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Chat Ready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903720" y="292608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UI initialized with movie context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28600" y="3749040"/>
            <a:ext cx="8686800" cy="868680"/>
          </a:xfrm>
          <a:prstGeom prst="rect">
            <a:avLst/>
          </a:prstGeom>
          <a:solidFill>
            <a:srgbClr val="1A1A35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28600" y="3749040"/>
            <a:ext cx="109728" cy="868680"/>
          </a:xfrm>
          <a:prstGeom prst="rect">
            <a:avLst/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382219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5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Services Used:  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57200" y="41330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</a:t>
            </a:r>
            <a:pPr indent="0" marL="0">
              <a:buNone/>
            </a:pPr>
            <a:r>
              <a:rPr lang="en-US" sz="1200" dirty="0">
                <a:solidFill>
                  <a:srgbClr val="E2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(summarization, chat, recommendations)   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Translator</a:t>
            </a:r>
            <a:pPr indent="0" marL="0">
              <a:buNone/>
            </a:pPr>
            <a:r>
              <a:rPr lang="en-US" sz="1200" dirty="0">
                <a:solidFill>
                  <a:srgbClr val="E2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(multilingual support)   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</a:t>
            </a:r>
            <a:pPr indent="0" marL="0">
              <a:buNone/>
            </a:pPr>
            <a:r>
              <a:rPr lang="en-US" sz="1200" dirty="0">
                <a:solidFill>
                  <a:srgbClr val="E2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Azure AI Search (semantic embeddings)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51528"/>
          </a:solidFill>
          <a:ln w="12700">
            <a:solidFill>
              <a:srgbClr val="1515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77824"/>
            <a:ext cx="9144000" cy="54864"/>
          </a:xfrm>
          <a:prstGeom prst="rect">
            <a:avLst/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Meet the Team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" y="1051560"/>
            <a:ext cx="2011680" cy="3657600"/>
          </a:xfrm>
          <a:prstGeom prst="rect">
            <a:avLst/>
          </a:prstGeom>
          <a:solidFill>
            <a:srgbClr val="1E1E38"/>
          </a:solidFill>
          <a:ln w="12700">
            <a:solidFill>
              <a:srgbClr val="2A2A5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51560"/>
            <a:ext cx="2011680" cy="9144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234440"/>
            <a:ext cx="640080" cy="640080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298448"/>
            <a:ext cx="493776" cy="49377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20040" y="19659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Software Developer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02920" y="2404872"/>
            <a:ext cx="1463040" cy="36576"/>
          </a:xfrm>
          <a:prstGeom prst="rect">
            <a:avLst/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0040" y="24871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5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Howard Kong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65760" y="2880360"/>
            <a:ext cx="1737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2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development</a:t>
            </a:r>
            <a:endParaRPr lang="en-US" sz="10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2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service integration</a:t>
            </a:r>
            <a:endParaRPr lang="en-US" sz="10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2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design</a:t>
            </a:r>
            <a:endParaRPr lang="en-US" sz="10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2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&amp; chat interface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423160" y="1051560"/>
            <a:ext cx="2011680" cy="3657600"/>
          </a:xfrm>
          <a:prstGeom prst="rect">
            <a:avLst/>
          </a:prstGeom>
          <a:solidFill>
            <a:srgbClr val="1E1E38"/>
          </a:solidFill>
          <a:ln w="12700">
            <a:solidFill>
              <a:srgbClr val="2A2A5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423160" y="1051560"/>
            <a:ext cx="2011680" cy="91440"/>
          </a:xfrm>
          <a:prstGeom prst="rect">
            <a:avLst/>
          </a:prstGeom>
          <a:solidFill>
            <a:srgbClr val="E84545"/>
          </a:solidFill>
          <a:ln w="12700">
            <a:solidFill>
              <a:srgbClr val="E8454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108960" y="1234440"/>
            <a:ext cx="640080" cy="640080"/>
          </a:xfrm>
          <a:prstGeom prst="ellipse">
            <a:avLst/>
          </a:prstGeom>
          <a:solidFill>
            <a:srgbClr val="E84545"/>
          </a:solidFill>
          <a:ln w="12700">
            <a:solidFill>
              <a:srgbClr val="E84545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2112" y="1298448"/>
            <a:ext cx="493776" cy="49377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514600" y="19659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Planner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2697480" y="2404872"/>
            <a:ext cx="1463040" cy="36576"/>
          </a:xfrm>
          <a:prstGeom prst="rect">
            <a:avLst/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2514600" y="24871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5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Chase Balmer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2560320" y="2880360"/>
            <a:ext cx="1737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2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GitHub board</a:t>
            </a:r>
            <a:endParaRPr lang="en-US" sz="10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2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proposal &amp; updates</a:t>
            </a:r>
            <a:endParaRPr lang="en-US" sz="10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2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group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4617720" y="1051560"/>
            <a:ext cx="2011680" cy="3657600"/>
          </a:xfrm>
          <a:prstGeom prst="rect">
            <a:avLst/>
          </a:prstGeom>
          <a:solidFill>
            <a:srgbClr val="1E1E38"/>
          </a:solidFill>
          <a:ln w="12700">
            <a:solidFill>
              <a:srgbClr val="2A2A5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25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4617720" y="1051560"/>
            <a:ext cx="2011680" cy="91440"/>
          </a:xfrm>
          <a:prstGeom prst="rect">
            <a:avLst/>
          </a:prstGeom>
          <a:solidFill>
            <a:srgbClr val="7B68EE"/>
          </a:solidFill>
          <a:ln w="12700">
            <a:solidFill>
              <a:srgbClr val="7B68EE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5303520" y="1234440"/>
            <a:ext cx="640080" cy="640080"/>
          </a:xfrm>
          <a:prstGeom prst="ellipse">
            <a:avLst/>
          </a:prstGeom>
          <a:solidFill>
            <a:srgbClr val="7B68EE"/>
          </a:solidFill>
          <a:ln w="12700">
            <a:solidFill>
              <a:srgbClr val="7B68EE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6672" y="1298448"/>
            <a:ext cx="493776" cy="493776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4709160" y="19659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Engineer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4892040" y="2404872"/>
            <a:ext cx="1463040" cy="36576"/>
          </a:xfrm>
          <a:prstGeom prst="rect">
            <a:avLst/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4709160" y="24871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5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Blake Rossi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4754880" y="2880360"/>
            <a:ext cx="1737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2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design</a:t>
            </a:r>
            <a:endParaRPr lang="en-US" sz="10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2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deployment</a:t>
            </a:r>
            <a:endParaRPr lang="en-US" sz="10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2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Summarization pipeline</a:t>
            </a:r>
            <a:endParaRPr lang="en-US" sz="10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2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tuning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6812280" y="1051560"/>
            <a:ext cx="2011680" cy="3657600"/>
          </a:xfrm>
          <a:prstGeom prst="rect">
            <a:avLst/>
          </a:prstGeom>
          <a:solidFill>
            <a:srgbClr val="1E1E38"/>
          </a:solidFill>
          <a:ln w="12700">
            <a:solidFill>
              <a:srgbClr val="2A2A5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6812280" y="1051560"/>
            <a:ext cx="2011680" cy="9144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498080" y="1234440"/>
            <a:ext cx="640080" cy="64008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1232" y="1298448"/>
            <a:ext cx="493776" cy="493776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6903720" y="19659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 Reviewer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7086600" y="2404872"/>
            <a:ext cx="1463040" cy="36576"/>
          </a:xfrm>
          <a:prstGeom prst="rect">
            <a:avLst/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6903720" y="24871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5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Oscar Chen</a:t>
            </a:r>
            <a:endParaRPr lang="en-US" sz="1200" dirty="0"/>
          </a:p>
        </p:txBody>
      </p:sp>
      <p:sp>
        <p:nvSpPr>
          <p:cNvPr id="36" name="Text 30"/>
          <p:cNvSpPr/>
          <p:nvPr/>
        </p:nvSpPr>
        <p:spPr>
          <a:xfrm>
            <a:off x="6949440" y="2880360"/>
            <a:ext cx="1737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2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code quality</a:t>
            </a:r>
            <a:endParaRPr lang="en-US" sz="10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2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 &amp; optimization</a:t>
            </a:r>
            <a:endParaRPr lang="en-US" sz="10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2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51528"/>
          </a:solidFill>
          <a:ln w="12700">
            <a:solidFill>
              <a:srgbClr val="1515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77824"/>
            <a:ext cx="9144000" cy="54864"/>
          </a:xfrm>
          <a:prstGeom prst="rect">
            <a:avLst/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AI Agent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760720" y="777240"/>
            <a:ext cx="3108960" cy="3108960"/>
          </a:xfrm>
          <a:prstGeom prst="ellipse">
            <a:avLst/>
          </a:prstGeom>
          <a:solidFill>
            <a:srgbClr val="1E1E38"/>
          </a:solidFill>
          <a:ln w="25400">
            <a:solidFill>
              <a:srgbClr val="F5C542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640" y="1097280"/>
            <a:ext cx="2103120" cy="21031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65760" y="1051560"/>
            <a:ext cx="5029200" cy="502920"/>
          </a:xfrm>
          <a:prstGeom prst="rect">
            <a:avLst/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105156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0D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Primary Role: Software Developer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65760" y="1737360"/>
            <a:ext cx="5029200" cy="658368"/>
          </a:xfrm>
          <a:prstGeom prst="rect">
            <a:avLst/>
          </a:prstGeom>
          <a:solidFill>
            <a:srgbClr val="1E1E38"/>
          </a:solidFill>
          <a:ln w="12700">
            <a:solidFill>
              <a:srgbClr val="2A2A5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5760" y="1737360"/>
            <a:ext cx="91440" cy="658368"/>
          </a:xfrm>
          <a:prstGeom prst="rect">
            <a:avLst/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1792224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5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 Generation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66928" y="203911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features and starter code using project example repos as context, enabling rapid iteration.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65760" y="2514600"/>
            <a:ext cx="5029200" cy="658368"/>
          </a:xfrm>
          <a:prstGeom prst="rect">
            <a:avLst/>
          </a:prstGeom>
          <a:solidFill>
            <a:srgbClr val="1E1E38"/>
          </a:solidFill>
          <a:ln w="12700">
            <a:solidFill>
              <a:srgbClr val="2A2A5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65760" y="2514600"/>
            <a:ext cx="91440" cy="658368"/>
          </a:xfrm>
          <a:prstGeom prst="rect">
            <a:avLst/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66928" y="2569464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5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UI Development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66928" y="281635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Develops user interface components including the chat interface and search UI.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65760" y="3291840"/>
            <a:ext cx="5029200" cy="658368"/>
          </a:xfrm>
          <a:prstGeom prst="rect">
            <a:avLst/>
          </a:prstGeom>
          <a:solidFill>
            <a:srgbClr val="1E1E38"/>
          </a:solidFill>
          <a:ln w="12700">
            <a:solidFill>
              <a:srgbClr val="2A2A5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65760" y="3291840"/>
            <a:ext cx="91440" cy="658368"/>
          </a:xfrm>
          <a:prstGeom prst="rect">
            <a:avLst/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66928" y="3346704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5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Prompt Design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66928" y="359359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Assists with prompt engineering for AI service integration and API call patterns.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365760" y="4069080"/>
            <a:ext cx="5029200" cy="658368"/>
          </a:xfrm>
          <a:prstGeom prst="rect">
            <a:avLst/>
          </a:prstGeom>
          <a:solidFill>
            <a:srgbClr val="1E1E38"/>
          </a:solidFill>
          <a:ln w="12700">
            <a:solidFill>
              <a:srgbClr val="2A2A5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2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365760" y="4069080"/>
            <a:ext cx="91440" cy="658368"/>
          </a:xfrm>
          <a:prstGeom prst="rect">
            <a:avLst/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66928" y="4123944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5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Debugging &amp; Fixes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66928" y="437083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Suggests fixes when issues arise; team members review and validate all generated output.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365760" y="4663440"/>
            <a:ext cx="8412480" cy="365760"/>
          </a:xfrm>
          <a:prstGeom prst="rect">
            <a:avLst/>
          </a:prstGeom>
          <a:solidFill>
            <a:srgbClr val="1A1A35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02920" y="468172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9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 review, refine, and validate all AI-generated code to ensure correctness, performance, and alignment with project goals.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457200"/>
            <a:ext cx="3840480" cy="3840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73152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spc="3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MOVIE MASTER</a:t>
            </a:r>
            <a:endParaRPr lang="en-US" sz="4200" dirty="0"/>
          </a:p>
        </p:txBody>
      </p:sp>
      <p:sp>
        <p:nvSpPr>
          <p:cNvPr id="6" name="Shape 3"/>
          <p:cNvSpPr/>
          <p:nvPr/>
        </p:nvSpPr>
        <p:spPr>
          <a:xfrm>
            <a:off x="457200" y="1627632"/>
            <a:ext cx="3657600" cy="54864"/>
          </a:xfrm>
          <a:prstGeom prst="rect">
            <a:avLst/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178308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F5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Film Intelligence Platform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457200" y="237744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Natural language movie search &amp; discovery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2852928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AI-generated summaries from transcripts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3328416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Per-movie AI chat expert interface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3803904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Multilingual summary translation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4279392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Ratings &amp; personalized recommendations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Movie Master</dc:title>
  <dc:subject>PptxGenJS Presentation</dc:subject>
  <dc:creator>PptxGenJS</dc:creator>
  <cp:lastModifiedBy>PptxGenJS</cp:lastModifiedBy>
  <cp:revision>1</cp:revision>
  <dcterms:created xsi:type="dcterms:W3CDTF">2026-03-27T14:51:15Z</dcterms:created>
  <dcterms:modified xsi:type="dcterms:W3CDTF">2026-03-27T14:51:15Z</dcterms:modified>
</cp:coreProperties>
</file>